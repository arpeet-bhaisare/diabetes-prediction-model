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8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018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645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569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341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61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06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14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34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327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3048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140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2107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09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084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2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71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>
            <a:extLst>
              <a:ext uri="{FF2B5EF4-FFF2-40B4-BE49-F238E27FC236}">
                <a16:creationId xmlns:a16="http://schemas.microsoft.com/office/drawing/2014/main" id="{E7AE31E8-970B-3A4F-9597-04BC3EA02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743" y="2371871"/>
            <a:ext cx="3657600" cy="36083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E6EC34-0637-324C-AE11-7BD4C54C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i="1" u="sng" baseline="30000">
                <a:solidFill>
                  <a:srgbClr val="001F5F"/>
                </a:solidFill>
                <a:effectLst/>
                <a:latin typeface="Cambria"/>
              </a:rPr>
              <a:t>Data Science:</a:t>
            </a:r>
            <a:r>
              <a:rPr lang="en-US" sz="5400" b="1" i="1" u="sng" spc="-20" baseline="30000">
                <a:solidFill>
                  <a:srgbClr val="292929"/>
                </a:solidFill>
                <a:effectLst/>
                <a:latin typeface="Cambria"/>
              </a:rPr>
              <a:t>Diabetes</a:t>
            </a:r>
            <a:endParaRPr lang="en-US" sz="5400" b="1" i="1" u="sng" baseline="30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2AC98-A1CE-0245-8FDC-17D3EF7E9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br>
              <a:rPr lang="en-US" b="1" i="1">
                <a:solidFill>
                  <a:srgbClr val="000000"/>
                </a:solidFill>
                <a:effectLst/>
                <a:latin typeface="Symbol" pitchFamily="2" charset="2"/>
              </a:rPr>
            </a:br>
            <a:r>
              <a:rPr lang="en-US" b="1" i="1">
                <a:solidFill>
                  <a:srgbClr val="000000"/>
                </a:solidFill>
                <a:effectLst/>
                <a:latin typeface="Times New Roman"/>
              </a:rPr>
              <a:t>   </a:t>
            </a:r>
            <a:r>
              <a:rPr lang="en-US" b="1" i="1">
                <a:solidFill>
                  <a:srgbClr val="000000"/>
                </a:solidFill>
                <a:effectLst/>
                <a:latin typeface="Cambria"/>
              </a:rPr>
              <a:t>ABSTRACT</a:t>
            </a:r>
            <a:endParaRPr lang="en-US" b="1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000000"/>
                </a:solidFill>
                <a:effectLst/>
                <a:latin typeface="Times New Roman"/>
              </a:rPr>
              <a:t>      </a:t>
            </a:r>
            <a:r>
              <a:rPr lang="en-US" b="1" i="1">
                <a:solidFill>
                  <a:srgbClr val="000000"/>
                </a:solidFill>
                <a:effectLst/>
                <a:latin typeface="Cambria"/>
              </a:rPr>
              <a:t>Table of Contents</a:t>
            </a:r>
            <a:endParaRPr lang="en-US" b="1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000000"/>
                </a:solidFill>
                <a:effectLst/>
                <a:latin typeface="Times New Roman"/>
              </a:rPr>
              <a:t>      </a:t>
            </a:r>
            <a:r>
              <a:rPr lang="en-US" b="1" i="1">
                <a:solidFill>
                  <a:srgbClr val="000000"/>
                </a:solidFill>
                <a:effectLst/>
                <a:latin typeface="Cambria"/>
              </a:rPr>
              <a:t>Introduction</a:t>
            </a:r>
            <a:endParaRPr lang="en-US" b="1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000000"/>
                </a:solidFill>
                <a:effectLst/>
                <a:latin typeface="Times New Roman"/>
              </a:rPr>
              <a:t>      </a:t>
            </a:r>
            <a:r>
              <a:rPr lang="en-US" b="1" i="1">
                <a:solidFill>
                  <a:srgbClr val="000000"/>
                </a:solidFill>
                <a:effectLst/>
                <a:latin typeface="Cambria"/>
              </a:rPr>
              <a:t>Existing Method</a:t>
            </a:r>
            <a:endParaRPr lang="en-US" b="1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000000"/>
                </a:solidFill>
                <a:effectLst/>
                <a:latin typeface="Times New Roman"/>
              </a:rPr>
              <a:t>      </a:t>
            </a:r>
            <a:r>
              <a:rPr lang="en-US" b="1" i="1">
                <a:solidFill>
                  <a:srgbClr val="000000"/>
                </a:solidFill>
                <a:effectLst/>
                <a:latin typeface="Cambria"/>
              </a:rPr>
              <a:t>Proposed method with Architecture</a:t>
            </a:r>
            <a:endParaRPr lang="en-US" b="1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000000"/>
                </a:solidFill>
                <a:effectLst/>
                <a:latin typeface="Times New Roman"/>
              </a:rPr>
              <a:t>      </a:t>
            </a:r>
            <a:r>
              <a:rPr lang="en-US" b="1" i="1">
                <a:solidFill>
                  <a:srgbClr val="000000"/>
                </a:solidFill>
                <a:effectLst/>
                <a:latin typeface="Cambria"/>
              </a:rPr>
              <a:t>Methodology</a:t>
            </a:r>
            <a:endParaRPr lang="en-US" b="1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000000"/>
                </a:solidFill>
                <a:effectLst/>
                <a:latin typeface="Times New Roman"/>
              </a:rPr>
              <a:t>      </a:t>
            </a:r>
            <a:r>
              <a:rPr lang="en-US" b="1" i="1">
                <a:solidFill>
                  <a:srgbClr val="000000"/>
                </a:solidFill>
                <a:effectLst/>
                <a:latin typeface="Cambria"/>
              </a:rPr>
              <a:t>Implementation</a:t>
            </a:r>
            <a:endParaRPr lang="en-US" b="1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000000"/>
                </a:solidFill>
                <a:effectLst/>
                <a:latin typeface="Times New Roman"/>
              </a:rPr>
              <a:t>      </a:t>
            </a:r>
            <a:r>
              <a:rPr lang="en-US" b="1" i="1">
                <a:solidFill>
                  <a:srgbClr val="000000"/>
                </a:solidFill>
                <a:effectLst/>
                <a:latin typeface="Cambria"/>
              </a:rPr>
              <a:t>Conclusion</a:t>
            </a:r>
            <a:endParaRPr lang="en-US" b="1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99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9FCC-CC4F-004C-8818-C438A1404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818" y="562271"/>
            <a:ext cx="8596668" cy="13208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i="1" u="sng">
                <a:solidFill>
                  <a:srgbClr val="000000"/>
                </a:solidFill>
                <a:effectLst/>
                <a:latin typeface="Cambria"/>
              </a:rPr>
              <a:t>DESCRIPTION</a:t>
            </a:r>
            <a:endParaRPr lang="en-US" sz="4400" b="1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F2759-2CE9-5246-A50A-5B975F1B1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728" y="2071847"/>
            <a:ext cx="8596668" cy="3880773"/>
          </a:xfrm>
        </p:spPr>
        <p:txBody>
          <a:bodyPr>
            <a:normAutofit fontScale="77500" lnSpcReduction="20000"/>
          </a:bodyPr>
          <a:lstStyle/>
          <a:p>
            <a:r>
              <a:rPr lang="en-US" sz="4000" b="0" i="1">
                <a:solidFill>
                  <a:srgbClr val="000000"/>
                </a:solidFill>
                <a:effectLst/>
                <a:latin typeface="Cambria"/>
              </a:rPr>
              <a:t>Diabetes is a type of chronic disease which is more common among the people of all age groups. </a:t>
            </a:r>
          </a:p>
          <a:p>
            <a:r>
              <a:rPr lang="en-US" sz="4000" b="0" i="1">
                <a:solidFill>
                  <a:srgbClr val="000000"/>
                </a:solidFill>
                <a:effectLst/>
                <a:latin typeface="Cambria"/>
              </a:rPr>
              <a:t>Predicting this disease at an early stage can help a person to take the necessary precautions and change his/her lifestyle.</a:t>
            </a:r>
            <a:endParaRPr lang="en-US" sz="40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4000" i="1">
                <a:solidFill>
                  <a:srgbClr val="000000"/>
                </a:solidFill>
                <a:latin typeface="Cambria"/>
              </a:rPr>
              <a:t>A</a:t>
            </a:r>
            <a:r>
              <a:rPr lang="en-US" sz="4000" b="0" i="1">
                <a:solidFill>
                  <a:srgbClr val="000000"/>
                </a:solidFill>
                <a:effectLst/>
                <a:latin typeface="Cambria"/>
              </a:rPr>
              <a:t>ccordingly to either prevent the occurrence of this disease or control the</a:t>
            </a:r>
            <a:r>
              <a:rPr lang="en-US" sz="4000" i="1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4000" b="0" i="1">
                <a:solidFill>
                  <a:srgbClr val="000000"/>
                </a:solidFill>
                <a:effectLst/>
                <a:latin typeface="Cambria"/>
              </a:rPr>
              <a:t>disease(For people who already have the disease).</a:t>
            </a:r>
            <a:endParaRPr lang="en-US" sz="40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49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F77A-E81D-A340-A933-83C7F1CE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22" y="677473"/>
            <a:ext cx="8596668" cy="1320800"/>
          </a:xfrm>
        </p:spPr>
        <p:txBody>
          <a:bodyPr anchor="ctr"/>
          <a:lstStyle/>
          <a:p>
            <a:pPr algn="ctr"/>
            <a:r>
              <a:rPr lang="en-US" b="1" i="1">
                <a:solidFill>
                  <a:srgbClr val="000000"/>
                </a:solidFill>
                <a:effectLst/>
                <a:latin typeface="Wingdings" pitchFamily="2" charset="2"/>
              </a:rPr>
              <a:t>Ø</a:t>
            </a:r>
            <a:r>
              <a:rPr lang="en-US" sz="1800" b="1" i="1">
                <a:solidFill>
                  <a:srgbClr val="000000"/>
                </a:solidFill>
                <a:effectLst/>
                <a:latin typeface="Times New Roman"/>
              </a:rPr>
              <a:t>  </a:t>
            </a:r>
            <a:r>
              <a:rPr lang="en-US" b="1" i="1">
                <a:solidFill>
                  <a:srgbClr val="000000"/>
                </a:solidFill>
                <a:effectLst/>
                <a:latin typeface="Cambria"/>
              </a:rPr>
              <a:t>Common Symptoms Of Diabetes Include:</a:t>
            </a:r>
            <a:endParaRPr lang="en-US" b="1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4D713-446D-4D49-B339-444A56618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1.</a:t>
            </a:r>
            <a:r>
              <a:rPr lang="en-US" sz="24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Frequent Urination</a:t>
            </a:r>
            <a:endParaRPr lang="en-US" sz="24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2.</a:t>
            </a:r>
            <a:r>
              <a:rPr lang="en-US" sz="24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Feeling very hungry or thirsty</a:t>
            </a:r>
            <a:endParaRPr lang="en-US" sz="24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3.</a:t>
            </a:r>
            <a:r>
              <a:rPr lang="en-US" sz="24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Extreme Fatigue</a:t>
            </a:r>
            <a:endParaRPr lang="en-US" sz="24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4.</a:t>
            </a:r>
            <a:r>
              <a:rPr lang="en-US" sz="24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Blurry Vision</a:t>
            </a:r>
            <a:endParaRPr lang="en-US" sz="24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5.</a:t>
            </a:r>
            <a:r>
              <a:rPr lang="en-US" sz="24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Bruises or wounds that are slow to heal</a:t>
            </a:r>
            <a:endParaRPr lang="en-US" sz="24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6.</a:t>
            </a:r>
            <a:r>
              <a:rPr lang="en-US" sz="24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Tingling, pain or numbness in feet or hands</a:t>
            </a:r>
            <a:endParaRPr lang="en-US" sz="24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7.</a:t>
            </a:r>
            <a:r>
              <a:rPr lang="en-US" sz="24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Dry itchy skin</a:t>
            </a:r>
            <a:endParaRPr lang="en-US" sz="24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4A1D74D7-C7EA-6940-8943-F3241DD1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534" y="1835957"/>
            <a:ext cx="2520280" cy="453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7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2B8E-C535-1D4C-A6E4-6CE0093F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08" y="816638"/>
            <a:ext cx="8596668" cy="1320800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i="1">
                <a:solidFill>
                  <a:srgbClr val="000000"/>
                </a:solidFill>
                <a:effectLst/>
                <a:latin typeface="Cambria"/>
              </a:rPr>
              <a:t>Reduce your risk for Diabetes by</a:t>
            </a:r>
            <a:endParaRPr lang="en-US" sz="4000" b="1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EEC2C-B4D5-6748-A223-DED2FB5EC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405" y="2131008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b="0" i="1">
                <a:solidFill>
                  <a:srgbClr val="000000"/>
                </a:solidFill>
                <a:effectLst/>
                <a:latin typeface="Cambria"/>
              </a:rPr>
              <a:t>30 minutes of Exercise can reduce risk for diabetes by 40%.</a:t>
            </a:r>
          </a:p>
          <a:p>
            <a:r>
              <a:rPr lang="en-US" sz="2800" b="0" i="1">
                <a:solidFill>
                  <a:srgbClr val="000000"/>
                </a:solidFill>
                <a:effectLst/>
                <a:latin typeface="Cambria"/>
              </a:rPr>
              <a:t>1.</a:t>
            </a:r>
            <a:r>
              <a:rPr lang="en-US" sz="28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800" b="0" i="1">
                <a:solidFill>
                  <a:srgbClr val="000000"/>
                </a:solidFill>
                <a:effectLst/>
                <a:latin typeface="Cambria"/>
              </a:rPr>
              <a:t>Swimming</a:t>
            </a:r>
            <a:endParaRPr lang="en-US" sz="28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800" b="0" i="1">
                <a:solidFill>
                  <a:srgbClr val="000000"/>
                </a:solidFill>
                <a:effectLst/>
                <a:latin typeface="Cambria"/>
              </a:rPr>
              <a:t>2.</a:t>
            </a:r>
            <a:r>
              <a:rPr lang="en-US" sz="28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800" b="0" i="1">
                <a:solidFill>
                  <a:srgbClr val="000000"/>
                </a:solidFill>
                <a:effectLst/>
                <a:latin typeface="Cambria"/>
              </a:rPr>
              <a:t>Dancing</a:t>
            </a:r>
            <a:endParaRPr lang="en-US" sz="28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800" b="0" i="1">
                <a:solidFill>
                  <a:srgbClr val="000000"/>
                </a:solidFill>
                <a:effectLst/>
                <a:latin typeface="Cambria"/>
              </a:rPr>
              <a:t>3.</a:t>
            </a:r>
            <a:r>
              <a:rPr lang="en-US" sz="28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800" b="0" i="1">
                <a:solidFill>
                  <a:srgbClr val="000000"/>
                </a:solidFill>
                <a:effectLst/>
                <a:latin typeface="Cambria"/>
              </a:rPr>
              <a:t>Cycling</a:t>
            </a:r>
            <a:endParaRPr lang="en-US" sz="28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800" b="0" i="1">
                <a:solidFill>
                  <a:srgbClr val="000000"/>
                </a:solidFill>
                <a:effectLst/>
                <a:latin typeface="Cambria"/>
              </a:rPr>
              <a:t>4.</a:t>
            </a:r>
            <a:r>
              <a:rPr lang="en-US" sz="2800" b="0" i="1">
                <a:solidFill>
                  <a:srgbClr val="000000"/>
                </a:solidFill>
                <a:effectLst/>
                <a:latin typeface="Times New Roman"/>
              </a:rPr>
              <a:t>       </a:t>
            </a:r>
            <a:r>
              <a:rPr lang="en-US" sz="2800" b="0" i="1">
                <a:solidFill>
                  <a:srgbClr val="000000"/>
                </a:solidFill>
                <a:effectLst/>
                <a:latin typeface="Cambria"/>
              </a:rPr>
              <a:t>Brisk walking</a:t>
            </a:r>
            <a:endParaRPr lang="en-US" sz="28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0149F71-C2C0-174E-9EA1-16E5EED41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242" y="3555606"/>
            <a:ext cx="3333750" cy="174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65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437BC-422B-F94B-A85D-4D7E1ACE9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884" y="1184424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Prolonged hyperglycemia leads to a complex disorder called diabetes .</a:t>
            </a:r>
          </a:p>
          <a:p>
            <a:r>
              <a:rPr lang="en-US" sz="2400" i="1">
                <a:solidFill>
                  <a:srgbClr val="000000"/>
                </a:solidFill>
                <a:latin typeface="Cambria"/>
              </a:rPr>
              <a:t>M</a:t>
            </a:r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ellitus which is associated with loss of glucose through urine and formation of harmful compounds known as ketene bodies.</a:t>
            </a:r>
          </a:p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Diabetic patients are successfully treated with insulin therapy.</a:t>
            </a:r>
          </a:p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An impairment affecting synthesis or release of ADH results in a diminished ability of the kidney to conserve water leading to water loss and dehydration. </a:t>
            </a:r>
          </a:p>
          <a:p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This condition is known as Diabetes Insides’.</a:t>
            </a:r>
            <a:endParaRPr lang="en-US" sz="2400" i="1"/>
          </a:p>
        </p:txBody>
      </p:sp>
    </p:spTree>
    <p:extLst>
      <p:ext uri="{BB962C8B-B14F-4D97-AF65-F5344CB8AC3E}">
        <p14:creationId xmlns:p14="http://schemas.microsoft.com/office/powerpoint/2010/main" val="1610790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D4C49-F374-5C45-B29C-97625E0E6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3851"/>
            <a:ext cx="8596668" cy="2508447"/>
          </a:xfrm>
        </p:spPr>
        <p:txBody>
          <a:bodyPr>
            <a:normAutofit fontScale="62500" lnSpcReduction="20000"/>
          </a:bodyPr>
          <a:lstStyle/>
          <a:p>
            <a:r>
              <a:rPr lang="en-US" sz="2000" b="0" i="1">
                <a:solidFill>
                  <a:srgbClr val="000000"/>
                </a:solidFill>
                <a:effectLst/>
                <a:latin typeface="Cambria"/>
              </a:rPr>
              <a:t>Uptake and Utilization. </a:t>
            </a:r>
          </a:p>
          <a:p>
            <a:r>
              <a:rPr lang="en-US" sz="2000" b="0" i="1">
                <a:solidFill>
                  <a:srgbClr val="000000"/>
                </a:solidFill>
                <a:effectLst/>
                <a:latin typeface="Cambria"/>
              </a:rPr>
              <a:t>As a result, there is a rapid movement of glucose from blood to hepatocytes and adiposities resulting in decreased blood glucose levels (hypoglycemia).</a:t>
            </a:r>
          </a:p>
          <a:p>
            <a:r>
              <a:rPr lang="en-US" sz="2000" b="0" i="1">
                <a:solidFill>
                  <a:srgbClr val="000000"/>
                </a:solidFill>
                <a:effectLst/>
                <a:latin typeface="Cambria"/>
              </a:rPr>
              <a:t> Insulin also stimulates conversion of glucose to glycogen (glycogen sis) in the target cells.</a:t>
            </a:r>
          </a:p>
          <a:p>
            <a:r>
              <a:rPr lang="en-US" sz="2000" b="0" i="1">
                <a:solidFill>
                  <a:srgbClr val="000000"/>
                </a:solidFill>
                <a:effectLst/>
                <a:latin typeface="Cambria"/>
              </a:rPr>
              <a:t> The glucose homeostasis in blood is thus maintained jointly by the two-insulin and glucagons.</a:t>
            </a:r>
            <a:endParaRPr lang="en-US" sz="20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000" b="0" i="1">
                <a:solidFill>
                  <a:srgbClr val="000000"/>
                </a:solidFill>
                <a:effectLst/>
                <a:latin typeface="Cambria"/>
              </a:rPr>
              <a:t>Prolonged hyperglycemia leads to a complex disorder called diabetes.</a:t>
            </a:r>
          </a:p>
          <a:p>
            <a:r>
              <a:rPr lang="en-US" sz="2600" b="0" i="1" spc="-20">
                <a:solidFill>
                  <a:srgbClr val="292929"/>
                </a:solidFill>
                <a:effectLst/>
                <a:latin typeface="Cambria"/>
              </a:rPr>
              <a:t>Symptoms of Diabetes Mellitus = high blood sugar level , glycosuria , polyuria , nocturia , ketosis, polydipsia , polyphagia , weakness etc.</a:t>
            </a:r>
            <a:endParaRPr lang="en-US" sz="26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600" b="0" i="1" spc="-20">
                <a:solidFill>
                  <a:srgbClr val="292929"/>
                </a:solidFill>
                <a:effectLst/>
                <a:latin typeface="Cambria"/>
              </a:rPr>
              <a:t>Diabetes insipid us can be cured by administration for ADH .( Anti- diuretic hormone )</a:t>
            </a:r>
            <a:endParaRPr lang="en-US" sz="26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US" sz="20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623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01987-BE88-2249-B597-975BC807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72F91-23CF-0D4D-A025-A6616B186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1" spc="-20">
                <a:solidFill>
                  <a:srgbClr val="292929"/>
                </a:solidFill>
                <a:effectLst/>
                <a:latin typeface="Cambria"/>
              </a:rPr>
              <a:t>Ex:</a:t>
            </a:r>
            <a:endParaRPr lang="en-US" sz="24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400" b="0" i="1" spc="-20">
                <a:solidFill>
                  <a:srgbClr val="292929"/>
                </a:solidFill>
                <a:effectLst/>
                <a:latin typeface="Cambria"/>
              </a:rPr>
              <a:t>      If a person happens to take large amount of water the amount of ADH in the blood will decreases. </a:t>
            </a:r>
          </a:p>
          <a:p>
            <a:r>
              <a:rPr lang="en-US" sz="2400" b="0" i="1" spc="-20">
                <a:solidFill>
                  <a:srgbClr val="292929"/>
                </a:solidFill>
                <a:effectLst/>
                <a:latin typeface="Cambria"/>
              </a:rPr>
              <a:t>ADH or Vasopressin is hormone secreted by pituitary that promotes reabsorptions of water from glomerular filtration.</a:t>
            </a:r>
            <a:r>
              <a:rPr lang="en-US" sz="2400" b="0" i="1">
                <a:solidFill>
                  <a:srgbClr val="000000"/>
                </a:solidFill>
                <a:effectLst/>
                <a:latin typeface="Cambria"/>
              </a:rPr>
              <a:t> </a:t>
            </a:r>
          </a:p>
          <a:p>
            <a:r>
              <a:rPr lang="en-US" sz="2400" b="0" i="1" spc="-20">
                <a:solidFill>
                  <a:srgbClr val="292929"/>
                </a:solidFill>
                <a:effectLst/>
                <a:latin typeface="Cambria"/>
              </a:rPr>
              <a:t>but one can predict through its urine test can it be predicted through blood test</a:t>
            </a:r>
            <a:endParaRPr lang="en-US" sz="2400" b="0" i="1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352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Facet</vt:lpstr>
      <vt:lpstr>Data Science:Diabetes</vt:lpstr>
      <vt:lpstr>DESCRIPTION</vt:lpstr>
      <vt:lpstr>Ø  Common Symptoms Of Diabetes Include:</vt:lpstr>
      <vt:lpstr>Reduce your risk for Diabetes by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Science:Diabetes</dc:title>
  <dc:creator>arpeet bhaisare</dc:creator>
  <cp:lastModifiedBy>arpeet bhaisare</cp:lastModifiedBy>
  <cp:revision>2</cp:revision>
  <dcterms:created xsi:type="dcterms:W3CDTF">2022-10-19T10:32:13Z</dcterms:created>
  <dcterms:modified xsi:type="dcterms:W3CDTF">2022-10-19T12:12:55Z</dcterms:modified>
</cp:coreProperties>
</file>